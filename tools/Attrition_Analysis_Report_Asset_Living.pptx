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277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0"/>
            <a:ext cx="109728" cy="68580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463040"/>
            <a:ext cx="10058400" cy="914400"/>
          </a:xfrm>
          <a:prstGeom prst="rect">
            <a:avLst/>
          </a:prstGeom>
          <a:solidFill>
            <a:srgbClr val="1A5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087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ATTRITION DATA ANALYSIS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DDFF"/>
                </a:solidFill>
              </a:rPr>
              <a:t>Asset Living, LLC  |  F&amp;A – Operations  |  July 2025 – March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546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99AACC"/>
                </a:solidFill>
              </a:rPr>
              <a:t>Generated: 31 March 2026  |  HR / People Analytics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3977639"/>
            <a:ext cx="2194560" cy="1143000"/>
          </a:xfrm>
          <a:prstGeom prst="rect">
            <a:avLst/>
          </a:prstGeom>
          <a:solidFill>
            <a:srgbClr val="1A539E"/>
          </a:solidFill>
          <a:ln w="19050">
            <a:solidFill>
              <a:srgbClr val="277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069079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0392B"/>
                </a:solidFill>
              </a:rPr>
              <a:t>108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6177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DFF"/>
                </a:solidFill>
              </a:rPr>
              <a:t>Total Exits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11880" y="3977639"/>
            <a:ext cx="2194560" cy="1143000"/>
          </a:xfrm>
          <a:prstGeom prst="rect">
            <a:avLst/>
          </a:prstGeom>
          <a:solidFill>
            <a:srgbClr val="1A539E"/>
          </a:solidFill>
          <a:ln w="19050">
            <a:solidFill>
              <a:srgbClr val="277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4069079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9 Months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46177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DFF"/>
                </a:solidFill>
              </a:rPr>
              <a:t>Period Covered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3977639"/>
            <a:ext cx="2194560" cy="1143000"/>
          </a:xfrm>
          <a:prstGeom prst="rect">
            <a:avLst/>
          </a:prstGeom>
          <a:solidFill>
            <a:srgbClr val="1A539E"/>
          </a:solidFill>
          <a:ln w="19050">
            <a:solidFill>
              <a:srgbClr val="277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4069079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0392B"/>
                </a:solidFill>
              </a:rPr>
              <a:t>17 / 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46177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DFF"/>
                </a:solidFill>
              </a:rPr>
              <a:t>2026 Run Rate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41080" y="3977639"/>
            <a:ext cx="2194560" cy="1143000"/>
          </a:xfrm>
          <a:prstGeom prst="rect">
            <a:avLst/>
          </a:prstGeom>
          <a:solidFill>
            <a:srgbClr val="1A539E"/>
          </a:solidFill>
          <a:ln w="19050">
            <a:solidFill>
              <a:srgbClr val="277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41080" y="4069079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0392B"/>
                </a:solidFill>
              </a:rPr>
              <a:t>85 %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46177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DFF"/>
                </a:solidFill>
              </a:rPr>
              <a:t>Undesired Exits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6510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CC"/>
                </a:solidFill>
              </a:rPr>
              <a:t>Confidential  |  HR / People Analytics  |  31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5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Executive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858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108 Exits  |  Jul 2025 – Mar 2026  |  Asset Living F&amp;A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2651760" cy="1188720"/>
          </a:xfrm>
          <a:prstGeom prst="rect">
            <a:avLst/>
          </a:prstGeom>
          <a:solidFill>
            <a:srgbClr val="122A5E"/>
          </a:solidFill>
          <a:ln w="19050">
            <a:solidFill>
              <a:srgbClr val="277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55448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0392B"/>
                </a:solidFill>
              </a:rPr>
              <a:t>108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1031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DFF"/>
                </a:solidFill>
              </a:rPr>
              <a:t>Total Attritions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64408" y="1463040"/>
            <a:ext cx="2651760" cy="1188720"/>
          </a:xfrm>
          <a:prstGeom prst="rect">
            <a:avLst/>
          </a:prstGeom>
          <a:solidFill>
            <a:srgbClr val="122A5E"/>
          </a:solidFill>
          <a:ln w="19050">
            <a:solidFill>
              <a:srgbClr val="277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64408" y="155448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0392B"/>
                </a:solidFill>
              </a:rPr>
              <a:t>17/mo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64408" y="21031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DFF"/>
                </a:solidFill>
              </a:rPr>
              <a:t>2026 Monthly Rate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08776" y="1463040"/>
            <a:ext cx="2651760" cy="1188720"/>
          </a:xfrm>
          <a:prstGeom prst="rect">
            <a:avLst/>
          </a:prstGeom>
          <a:solidFill>
            <a:srgbClr val="122A5E"/>
          </a:solidFill>
          <a:ln w="19050">
            <a:solidFill>
              <a:srgbClr val="277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08776" y="155448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39C12"/>
                </a:solidFill>
              </a:rPr>
              <a:t>85%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8776" y="21031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DFF"/>
                </a:solidFill>
              </a:rPr>
              <a:t>Undesired Exits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53144" y="1463040"/>
            <a:ext cx="2651760" cy="1188720"/>
          </a:xfrm>
          <a:prstGeom prst="rect">
            <a:avLst/>
          </a:prstGeom>
          <a:solidFill>
            <a:srgbClr val="122A5E"/>
          </a:solidFill>
          <a:ln w="19050">
            <a:solidFill>
              <a:srgbClr val="277D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53144" y="155448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0392B"/>
                </a:solidFill>
              </a:rPr>
              <a:t>+79%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53144" y="21031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DFF"/>
                </a:solidFill>
              </a:rPr>
              <a:t>Rate vs H2 2025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834640"/>
            <a:ext cx="5303520" cy="3246120"/>
          </a:xfrm>
          <a:prstGeom prst="rect">
            <a:avLst/>
          </a:prstGeom>
          <a:solidFill>
            <a:srgbClr val="102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90779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7DC2"/>
                </a:solidFill>
              </a:rPr>
              <a:t>ATTRITION TYPE BREAKDOWN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3422904"/>
            <a:ext cx="1828800" cy="682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Resignation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31720" y="3465576"/>
            <a:ext cx="2560320" cy="554735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31720" y="3465576"/>
            <a:ext cx="2332736" cy="554735"/>
          </a:xfrm>
          <a:prstGeom prst="rect">
            <a:avLst/>
          </a:prstGeom>
          <a:solidFill>
            <a:srgbClr val="277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10176" y="3422904"/>
            <a:ext cx="502920" cy="682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82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4276344"/>
            <a:ext cx="1828800" cy="682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Abscond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31720" y="4319015"/>
            <a:ext cx="2560320" cy="554735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31720" y="4319015"/>
            <a:ext cx="597408" cy="554735"/>
          </a:xfrm>
          <a:prstGeom prst="rect">
            <a:avLst/>
          </a:prstGeom>
          <a:solidFill>
            <a:srgbClr val="277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74848" y="4276344"/>
            <a:ext cx="502920" cy="682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5129784"/>
            <a:ext cx="1828800" cy="682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Termination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31720" y="5172456"/>
            <a:ext cx="2560320" cy="554735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331720" y="5172456"/>
            <a:ext cx="142239" cy="554735"/>
          </a:xfrm>
          <a:prstGeom prst="rect">
            <a:avLst/>
          </a:prstGeom>
          <a:solidFill>
            <a:srgbClr val="277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19680" y="5129784"/>
            <a:ext cx="502920" cy="682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97880" y="2834640"/>
            <a:ext cx="5989320" cy="3246120"/>
          </a:xfrm>
          <a:prstGeom prst="rect">
            <a:avLst/>
          </a:prstGeom>
          <a:solidFill>
            <a:srgbClr val="102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80760" y="290779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7DC2"/>
                </a:solidFill>
              </a:rPr>
              <a:t>TOP ATTRITION REASONS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3388766"/>
            <a:ext cx="1828800" cy="409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Personal Reason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09560" y="3414369"/>
            <a:ext cx="3200399" cy="332841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909560" y="3414369"/>
            <a:ext cx="2773679" cy="332841"/>
          </a:xfrm>
          <a:prstGeom prst="rect">
            <a:avLst/>
          </a:prstGeom>
          <a:solidFill>
            <a:srgbClr val="277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728960" y="3388766"/>
            <a:ext cx="502920" cy="409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39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89320" y="3900830"/>
            <a:ext cx="1828800" cy="409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Health Reason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09560" y="3926433"/>
            <a:ext cx="3200399" cy="332841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09560" y="3926433"/>
            <a:ext cx="2204719" cy="332841"/>
          </a:xfrm>
          <a:prstGeom prst="rect">
            <a:avLst/>
          </a:prstGeom>
          <a:solidFill>
            <a:srgbClr val="277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60000" y="3900830"/>
            <a:ext cx="502920" cy="409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31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89320" y="4412894"/>
            <a:ext cx="1828800" cy="409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Other Opportunity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909560" y="4438497"/>
            <a:ext cx="3200399" cy="332841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909560" y="4438497"/>
            <a:ext cx="995679" cy="332841"/>
          </a:xfrm>
          <a:prstGeom prst="rect">
            <a:avLst/>
          </a:prstGeom>
          <a:solidFill>
            <a:srgbClr val="277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50960" y="4412894"/>
            <a:ext cx="502920" cy="409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89320" y="4924958"/>
            <a:ext cx="1828800" cy="409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Disciplinary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909560" y="4950561"/>
            <a:ext cx="3200399" cy="332841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909560" y="4950561"/>
            <a:ext cx="568959" cy="332841"/>
          </a:xfrm>
          <a:prstGeom prst="rect">
            <a:avLst/>
          </a:prstGeom>
          <a:solidFill>
            <a:srgbClr val="277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24240" y="4924958"/>
            <a:ext cx="502920" cy="409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89320" y="5437022"/>
            <a:ext cx="1828800" cy="409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Higher Studies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09560" y="5462625"/>
            <a:ext cx="3200399" cy="332841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909560" y="5462625"/>
            <a:ext cx="497839" cy="332841"/>
          </a:xfrm>
          <a:prstGeom prst="rect">
            <a:avLst/>
          </a:prstGeom>
          <a:solidFill>
            <a:srgbClr val="277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53120" y="5437022"/>
            <a:ext cx="502920" cy="409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4320" y="6510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CC"/>
                </a:solidFill>
              </a:rPr>
              <a:t>Confidential  |  HR / People Analytics  |  31 March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5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Year-Wise Comparison: 2025 vs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858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H2 2025 (Jul–Dec)  vs  Q1 2026 (Jan–Mar)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11612880" cy="347472"/>
          </a:xfrm>
          <a:prstGeom prst="rect">
            <a:avLst/>
          </a:prstGeom>
          <a:solidFill>
            <a:srgbClr val="277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45389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145389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2025 (Jul–Dec)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59" y="145389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2026 (Jan–Mar)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145389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Trend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764792"/>
            <a:ext cx="11612880" cy="347472"/>
          </a:xfrm>
          <a:prstGeom prst="rect">
            <a:avLst/>
          </a:prstGeom>
          <a:solidFill>
            <a:srgbClr val="102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80136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Total Attritions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180136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57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59" y="180136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51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46920" y="180136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112264"/>
            <a:ext cx="11612880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148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Months Covered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148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2148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2148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459736"/>
            <a:ext cx="11612880" cy="347472"/>
          </a:xfrm>
          <a:prstGeom prst="rect">
            <a:avLst/>
          </a:prstGeom>
          <a:solidFill>
            <a:srgbClr val="102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49631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Monthly Average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249631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9.5/mo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59" y="249631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17.0/mo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6920" y="249631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392B"/>
                </a:solidFill>
              </a:rPr>
              <a:t>▲ +79%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807208"/>
            <a:ext cx="11612880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284378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Resignations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84378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59" y="284378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42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46920" y="284378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392B"/>
                </a:solidFill>
              </a:rPr>
              <a:t>▲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154680"/>
            <a:ext cx="11612880" cy="347472"/>
          </a:xfrm>
          <a:prstGeom prst="rect">
            <a:avLst/>
          </a:prstGeom>
          <a:solidFill>
            <a:srgbClr val="102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31912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Absconds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31912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59" y="31912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6920" y="319125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8B4C"/>
                </a:solidFill>
              </a:rPr>
              <a:t>▼ Improved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3502152"/>
            <a:ext cx="11612880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353872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Terminations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29000" y="353872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59" y="353872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46920" y="353872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392B"/>
                </a:solidFill>
              </a:rPr>
              <a:t>▲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3849624"/>
            <a:ext cx="11612880" cy="347472"/>
          </a:xfrm>
          <a:prstGeom prst="rect">
            <a:avLst/>
          </a:prstGeom>
          <a:solidFill>
            <a:srgbClr val="102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38862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Undesired Exits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29000" y="38862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52 (91%)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7959" y="38862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40 (78%)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46920" y="38862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8B4C"/>
                </a:solidFill>
              </a:rPr>
              <a:t>▼ Improved 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4197096"/>
            <a:ext cx="11612880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" y="423367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Desired Exits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29000" y="423367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5 (9%)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37959" y="423367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11 (22%)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46920" y="423367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8B4C"/>
                </a:solidFill>
              </a:rPr>
              <a:t>▲ Improved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4663440"/>
            <a:ext cx="11612880" cy="1828800"/>
          </a:xfrm>
          <a:prstGeom prst="rect">
            <a:avLst/>
          </a:prstGeom>
          <a:solidFill>
            <a:srgbClr val="102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47091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7DC2"/>
                </a:solidFill>
              </a:rPr>
              <a:t>MONTHLY TREND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920" y="5074920"/>
            <a:ext cx="987552" cy="1188720"/>
          </a:xfrm>
          <a:prstGeom prst="rect">
            <a:avLst/>
          </a:prstGeom>
          <a:solidFill>
            <a:srgbClr val="07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02920" y="5939443"/>
            <a:ext cx="987552" cy="324196"/>
          </a:xfrm>
          <a:prstGeom prst="rect">
            <a:avLst/>
          </a:prstGeom>
          <a:solidFill>
            <a:srgbClr val="277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2920" y="5683411"/>
            <a:ext cx="987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77DC2"/>
                </a:solidFill>
              </a:rPr>
              <a:t>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6291072"/>
            <a:ext cx="9875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CC"/>
                </a:solidFill>
              </a:rPr>
              <a:t>Jul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719072" y="5074920"/>
            <a:ext cx="987552" cy="1188720"/>
          </a:xfrm>
          <a:prstGeom prst="rect">
            <a:avLst/>
          </a:prstGeom>
          <a:solidFill>
            <a:srgbClr val="07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719072" y="5777345"/>
            <a:ext cx="987552" cy="486294"/>
          </a:xfrm>
          <a:prstGeom prst="rect">
            <a:avLst/>
          </a:prstGeom>
          <a:solidFill>
            <a:srgbClr val="277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719072" y="5521313"/>
            <a:ext cx="987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77DC2"/>
                </a:solidFill>
              </a:rPr>
              <a:t>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719072" y="6291072"/>
            <a:ext cx="9875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CC"/>
                </a:solidFill>
              </a:rPr>
              <a:t>Aug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935224" y="5074920"/>
            <a:ext cx="987552" cy="1188720"/>
          </a:xfrm>
          <a:prstGeom prst="rect">
            <a:avLst/>
          </a:prstGeom>
          <a:solidFill>
            <a:srgbClr val="07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935224" y="5831378"/>
            <a:ext cx="987552" cy="432261"/>
          </a:xfrm>
          <a:prstGeom prst="rect">
            <a:avLst/>
          </a:prstGeom>
          <a:solidFill>
            <a:srgbClr val="277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935224" y="5575346"/>
            <a:ext cx="987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77DC2"/>
                </a:solidFill>
              </a:rPr>
              <a:t>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35224" y="6291072"/>
            <a:ext cx="9875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CC"/>
                </a:solidFill>
              </a:rPr>
              <a:t>Sep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151376" y="5074920"/>
            <a:ext cx="987552" cy="1188720"/>
          </a:xfrm>
          <a:prstGeom prst="rect">
            <a:avLst/>
          </a:prstGeom>
          <a:solidFill>
            <a:srgbClr val="07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151376" y="5831378"/>
            <a:ext cx="987552" cy="432261"/>
          </a:xfrm>
          <a:prstGeom prst="rect">
            <a:avLst/>
          </a:prstGeom>
          <a:solidFill>
            <a:srgbClr val="277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51376" y="5575346"/>
            <a:ext cx="987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77DC2"/>
                </a:solidFill>
              </a:rPr>
              <a:t>8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151376" y="6291072"/>
            <a:ext cx="9875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CC"/>
                </a:solidFill>
              </a:rPr>
              <a:t>Oct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367528" y="5074920"/>
            <a:ext cx="987552" cy="1188720"/>
          </a:xfrm>
          <a:prstGeom prst="rect">
            <a:avLst/>
          </a:prstGeom>
          <a:solidFill>
            <a:srgbClr val="07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367528" y="5831378"/>
            <a:ext cx="987552" cy="432261"/>
          </a:xfrm>
          <a:prstGeom prst="rect">
            <a:avLst/>
          </a:prstGeom>
          <a:solidFill>
            <a:srgbClr val="277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367528" y="5575346"/>
            <a:ext cx="987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77DC2"/>
                </a:solidFill>
              </a:rPr>
              <a:t>8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367528" y="6291072"/>
            <a:ext cx="9875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CC"/>
                </a:solidFill>
              </a:rPr>
              <a:t>Nov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583680" y="5074920"/>
            <a:ext cx="987552" cy="1188720"/>
          </a:xfrm>
          <a:prstGeom prst="rect">
            <a:avLst/>
          </a:prstGeom>
          <a:solidFill>
            <a:srgbClr val="07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583680" y="5291050"/>
            <a:ext cx="987552" cy="972589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583680" y="5035018"/>
            <a:ext cx="987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0392B"/>
                </a:solidFill>
              </a:rPr>
              <a:t>18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6291072"/>
            <a:ext cx="9875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CC"/>
                </a:solidFill>
              </a:rPr>
              <a:t>Dec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799832" y="5074920"/>
            <a:ext cx="987552" cy="1188720"/>
          </a:xfrm>
          <a:prstGeom prst="rect">
            <a:avLst/>
          </a:prstGeom>
          <a:solidFill>
            <a:srgbClr val="07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799832" y="5561214"/>
            <a:ext cx="987552" cy="702425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799832" y="5305182"/>
            <a:ext cx="987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39C12"/>
                </a:solidFill>
              </a:rPr>
              <a:t>13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799832" y="6291072"/>
            <a:ext cx="9875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Jan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015984" y="5074920"/>
            <a:ext cx="987552" cy="1188720"/>
          </a:xfrm>
          <a:prstGeom prst="rect">
            <a:avLst/>
          </a:prstGeom>
          <a:solidFill>
            <a:srgbClr val="07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015984" y="5074920"/>
            <a:ext cx="987552" cy="1188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015984" y="4818888"/>
            <a:ext cx="987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0392B"/>
                </a:solidFill>
              </a:rPr>
              <a:t>22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015984" y="6291072"/>
            <a:ext cx="9875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Feb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232136" y="5074920"/>
            <a:ext cx="987552" cy="1188720"/>
          </a:xfrm>
          <a:prstGeom prst="rect">
            <a:avLst/>
          </a:prstGeom>
          <a:solidFill>
            <a:srgbClr val="07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232136" y="5399116"/>
            <a:ext cx="987552" cy="864523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232136" y="5143084"/>
            <a:ext cx="987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39C12"/>
                </a:solidFill>
              </a:rPr>
              <a:t>16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232136" y="6291072"/>
            <a:ext cx="9875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Mar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02920" y="6510527"/>
            <a:ext cx="6263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AACC"/>
                </a:solidFill>
              </a:rPr>
              <a:t>◀  2025 (H2)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086600" y="6510527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2026 (Q1)  ▶</a:t>
            </a:r>
          </a:p>
        </p:txBody>
      </p:sp>
      <p:sp>
        <p:nvSpPr>
          <p:cNvPr id="91" name="Rectangle 9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74320" y="6510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CC"/>
                </a:solidFill>
              </a:rPr>
              <a:t>Confidential  |  HR / People Analytics  |  31 March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5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Tenure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858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When are people leaving? — 57% exit within first 12 months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11612880" cy="484631"/>
          </a:xfrm>
          <a:prstGeom prst="rect">
            <a:avLst/>
          </a:prstGeom>
          <a:solidFill>
            <a:srgbClr val="102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490472"/>
            <a:ext cx="210312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 – 30 days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40" y="1508760"/>
            <a:ext cx="6858000" cy="292607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06040" y="1508760"/>
            <a:ext cx="403411" cy="292607"/>
          </a:xfrm>
          <a:prstGeom prst="rect">
            <a:avLst/>
          </a:prstGeom>
          <a:solidFill>
            <a:srgbClr val="277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0891" y="1490472"/>
            <a:ext cx="45720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1490472"/>
            <a:ext cx="182880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FF"/>
                </a:solidFill>
              </a:rPr>
              <a:t>1.9%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938528"/>
            <a:ext cx="11612880" cy="484631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011680"/>
            <a:ext cx="210312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31 – 60 days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06040" y="2029968"/>
            <a:ext cx="6858000" cy="292607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06040" y="2029968"/>
            <a:ext cx="1815352" cy="292607"/>
          </a:xfrm>
          <a:prstGeom prst="rect">
            <a:avLst/>
          </a:prstGeom>
          <a:solidFill>
            <a:srgbClr val="277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2832" y="2011680"/>
            <a:ext cx="45720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2011680"/>
            <a:ext cx="182880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FF"/>
                </a:solidFill>
              </a:rPr>
              <a:t>8.3%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459736"/>
            <a:ext cx="11612880" cy="484631"/>
          </a:xfrm>
          <a:prstGeom prst="rect">
            <a:avLst/>
          </a:prstGeom>
          <a:solidFill>
            <a:srgbClr val="102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2532888"/>
            <a:ext cx="210312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61 – 90 days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06040" y="2551176"/>
            <a:ext cx="6858000" cy="292607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06040" y="2551176"/>
            <a:ext cx="1411941" cy="292607"/>
          </a:xfrm>
          <a:prstGeom prst="rect">
            <a:avLst/>
          </a:prstGeom>
          <a:solidFill>
            <a:srgbClr val="277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09421" y="2532888"/>
            <a:ext cx="45720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2532888"/>
            <a:ext cx="182880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FF"/>
                </a:solidFill>
              </a:rPr>
              <a:t>6.5%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980944"/>
            <a:ext cx="11612880" cy="484631"/>
          </a:xfrm>
          <a:prstGeom prst="rect">
            <a:avLst/>
          </a:prstGeom>
          <a:solidFill>
            <a:srgbClr val="4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3054096"/>
            <a:ext cx="210312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39C12"/>
                </a:solidFill>
              </a:rPr>
              <a:t>91 – 180 days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06040" y="3072384"/>
            <a:ext cx="6858000" cy="292607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606040" y="3072384"/>
            <a:ext cx="6858000" cy="292607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3054096"/>
            <a:ext cx="45720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</a:rPr>
              <a:t>34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3054096"/>
            <a:ext cx="182880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39C12"/>
                </a:solidFill>
              </a:rPr>
              <a:t>31.5%  ← HIGHEST RISK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502152"/>
            <a:ext cx="11612880" cy="484631"/>
          </a:xfrm>
          <a:prstGeom prst="rect">
            <a:avLst/>
          </a:prstGeom>
          <a:solidFill>
            <a:srgbClr val="102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3575304"/>
            <a:ext cx="210312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181 – 365 days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06040" y="3593592"/>
            <a:ext cx="6858000" cy="292607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606040" y="3593592"/>
            <a:ext cx="3227294" cy="292607"/>
          </a:xfrm>
          <a:prstGeom prst="rect">
            <a:avLst/>
          </a:prstGeom>
          <a:solidFill>
            <a:srgbClr val="277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24774" y="3575304"/>
            <a:ext cx="45720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3575304"/>
            <a:ext cx="182880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FF"/>
                </a:solidFill>
              </a:rPr>
              <a:t>14.8%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023359"/>
            <a:ext cx="11612880" cy="484631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4096511"/>
            <a:ext cx="210312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 – 2 Years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06040" y="4114799"/>
            <a:ext cx="6858000" cy="292607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606040" y="4114799"/>
            <a:ext cx="5647764" cy="292607"/>
          </a:xfrm>
          <a:prstGeom prst="rect">
            <a:avLst/>
          </a:prstGeom>
          <a:solidFill>
            <a:srgbClr val="277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45244" y="4096511"/>
            <a:ext cx="45720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28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4096511"/>
            <a:ext cx="182880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FF"/>
                </a:solidFill>
              </a:rPr>
              <a:t>25.9%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4544568"/>
            <a:ext cx="11612880" cy="484631"/>
          </a:xfrm>
          <a:prstGeom prst="rect">
            <a:avLst/>
          </a:prstGeom>
          <a:solidFill>
            <a:srgbClr val="102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4617720"/>
            <a:ext cx="210312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2 – 3 Years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06040" y="4636007"/>
            <a:ext cx="6858000" cy="292607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606040" y="4636007"/>
            <a:ext cx="2420470" cy="292607"/>
          </a:xfrm>
          <a:prstGeom prst="rect">
            <a:avLst/>
          </a:prstGeom>
          <a:solidFill>
            <a:srgbClr val="277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17950" y="4617720"/>
            <a:ext cx="45720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0" y="4617720"/>
            <a:ext cx="182880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FF"/>
                </a:solidFill>
              </a:rPr>
              <a:t>11.1%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5120640"/>
            <a:ext cx="11612880" cy="1371600"/>
          </a:xfrm>
          <a:prstGeom prst="rect">
            <a:avLst/>
          </a:prstGeom>
          <a:solidFill>
            <a:srgbClr val="1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74320" y="5120640"/>
            <a:ext cx="164592" cy="13716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4360" y="519379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39C12"/>
                </a:solidFill>
              </a:rPr>
              <a:t>KEY INSIGHT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550468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57% of all attritions occur within the first 12 months. The 91–180 day window (3–6 months) is the single largest risk bucket with 34 exits (31% of total). Structured check-ins and buddy programs at this stage are critical to retention.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6510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CC"/>
                </a:solidFill>
              </a:rPr>
              <a:t>Confidential  |  HR / People Analytics  |  31 March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5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Band Distribution &amp; Exit Reasons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858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Who is leaving and why?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5394960" cy="5120640"/>
          </a:xfrm>
          <a:prstGeom prst="rect">
            <a:avLst/>
          </a:prstGeom>
          <a:solidFill>
            <a:srgbClr val="102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7DC2"/>
                </a:solidFill>
              </a:rPr>
              <a:t>BAND DISTRIBUTION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5029200" cy="1097280"/>
          </a:xfrm>
          <a:prstGeom prst="rect">
            <a:avLst/>
          </a:prstGeom>
          <a:solidFill>
            <a:srgbClr val="071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0848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Band 1  (Entry/Junior)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514600"/>
            <a:ext cx="4114800" cy="347472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514600"/>
            <a:ext cx="411480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46888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0392B"/>
                </a:solidFill>
              </a:rPr>
              <a:t>81%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83280"/>
            <a:ext cx="5029200" cy="1097280"/>
          </a:xfrm>
          <a:prstGeom prst="rect">
            <a:avLst/>
          </a:prstGeom>
          <a:solidFill>
            <a:srgbClr val="071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4564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Band 2  (Mid Level)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886200"/>
            <a:ext cx="4114800" cy="347472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886200"/>
            <a:ext cx="841663" cy="34747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384048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39C12"/>
                </a:solidFill>
              </a:rPr>
              <a:t>17%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754880"/>
            <a:ext cx="5029200" cy="1097280"/>
          </a:xfrm>
          <a:prstGeom prst="rect">
            <a:avLst/>
          </a:prstGeom>
          <a:solidFill>
            <a:srgbClr val="071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8280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Band 3  (Senior)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5257800"/>
            <a:ext cx="4114800" cy="347472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5257800"/>
            <a:ext cx="93518" cy="347472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521208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8B4C"/>
                </a:solidFill>
              </a:rPr>
              <a:t>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989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DFF"/>
                </a:solidFill>
              </a:rPr>
              <a:t>81% of exits are Band 1. Retention at entry level is the highest-impact lever.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89320" y="1417320"/>
            <a:ext cx="5897880" cy="5120640"/>
          </a:xfrm>
          <a:prstGeom prst="rect">
            <a:avLst/>
          </a:prstGeom>
          <a:solidFill>
            <a:srgbClr val="102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15087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7DC2"/>
                </a:solidFill>
              </a:rPr>
              <a:t>EXIT REASONS (Full Breakdown)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1965960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Personal Reason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23960" y="2029967"/>
            <a:ext cx="2560320" cy="27432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23960" y="2029967"/>
            <a:ext cx="256032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0" y="1965960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FF"/>
                </a:solidFill>
              </a:rPr>
              <a:t>36.1%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2423160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Health Reason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23960" y="2487168"/>
            <a:ext cx="2560320" cy="27432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23960" y="2487168"/>
            <a:ext cx="2035126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0" y="2423160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FF"/>
                </a:solidFill>
              </a:rPr>
              <a:t>28.7%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2880360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Other Opportunity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23960" y="2944368"/>
            <a:ext cx="2560320" cy="27432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23960" y="2944368"/>
            <a:ext cx="919089" cy="274320"/>
          </a:xfrm>
          <a:prstGeom prst="rect">
            <a:avLst/>
          </a:prstGeom>
          <a:solidFill>
            <a:srgbClr val="277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0" y="2880360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FF"/>
                </a:solidFill>
              </a:rPr>
              <a:t>13.0%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3337560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Disciplinary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823960" y="3401568"/>
            <a:ext cx="2560320" cy="27432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823960" y="3401568"/>
            <a:ext cx="525193" cy="274320"/>
          </a:xfrm>
          <a:prstGeom prst="rect">
            <a:avLst/>
          </a:prstGeom>
          <a:solidFill>
            <a:srgbClr val="277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0" y="3337560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FF"/>
                </a:solidFill>
              </a:rPr>
              <a:t>7.4%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72200" y="3794760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Higher Studies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823960" y="3858768"/>
            <a:ext cx="2560320" cy="27432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823960" y="3858768"/>
            <a:ext cx="459544" cy="274320"/>
          </a:xfrm>
          <a:prstGeom prst="rect">
            <a:avLst/>
          </a:prstGeom>
          <a:solidFill>
            <a:srgbClr val="277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430000" y="3794760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FF"/>
                </a:solidFill>
              </a:rPr>
              <a:t>6.5%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72200" y="4251960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Performance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823960" y="4315968"/>
            <a:ext cx="2560320" cy="27432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823960" y="4315968"/>
            <a:ext cx="328246" cy="274320"/>
          </a:xfrm>
          <a:prstGeom prst="rect">
            <a:avLst/>
          </a:prstGeom>
          <a:solidFill>
            <a:srgbClr val="277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430000" y="4251960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FF"/>
                </a:solidFill>
              </a:rPr>
              <a:t>4.6%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72200" y="4709160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Work Related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823960" y="4773168"/>
            <a:ext cx="2560320" cy="27432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823960" y="4773168"/>
            <a:ext cx="131298" cy="274320"/>
          </a:xfrm>
          <a:prstGeom prst="rect">
            <a:avLst/>
          </a:prstGeom>
          <a:solidFill>
            <a:srgbClr val="277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430000" y="4709160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FF"/>
                </a:solidFill>
              </a:rPr>
              <a:t>1.9%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2200" y="5166360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NCNS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823960" y="5230368"/>
            <a:ext cx="2560320" cy="27432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823960" y="5230368"/>
            <a:ext cx="65649" cy="274320"/>
          </a:xfrm>
          <a:prstGeom prst="rect">
            <a:avLst/>
          </a:prstGeom>
          <a:solidFill>
            <a:srgbClr val="277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430000" y="5166360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FF"/>
                </a:solidFill>
              </a:rPr>
              <a:t>0.9%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72200" y="5623560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Relocation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823960" y="5687568"/>
            <a:ext cx="2560320" cy="27432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823960" y="5687568"/>
            <a:ext cx="65649" cy="274320"/>
          </a:xfrm>
          <a:prstGeom prst="rect">
            <a:avLst/>
          </a:prstGeom>
          <a:solidFill>
            <a:srgbClr val="277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430000" y="5623560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FF"/>
                </a:solidFill>
              </a:rPr>
              <a:t>0.9%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72200" y="5989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DFF"/>
                </a:solidFill>
              </a:rPr>
              <a:t>Personal + Health = 65% of exits. Likely signals workload / WLB concerns.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74320" y="6510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CC"/>
                </a:solidFill>
              </a:rPr>
              <a:t>Confidential  |  HR / People Analytics  |  31 March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5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Desired vs Undesired Exits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858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Are we in control of who leaves?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577840" cy="2926080"/>
          </a:xfrm>
          <a:prstGeom prst="rect">
            <a:avLst/>
          </a:prstGeom>
          <a:solidFill>
            <a:srgbClr val="3A0808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5577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0392B"/>
                </a:solidFill>
              </a:rPr>
              <a:t>92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UNDESIRED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CCDDFF"/>
                </a:solidFill>
              </a:rPr>
              <a:t>Talent we wanted to keep — 85%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46520" y="1463040"/>
            <a:ext cx="5577840" cy="2926080"/>
          </a:xfrm>
          <a:prstGeom prst="rect">
            <a:avLst/>
          </a:prstGeom>
          <a:solidFill>
            <a:srgbClr val="082A18"/>
          </a:solidFill>
          <a:ln w="2540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00200"/>
            <a:ext cx="5577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1E8B4C"/>
                </a:solidFill>
              </a:rPr>
              <a:t>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74320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DESIRED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20040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CCDDFF"/>
                </a:solidFill>
              </a:rPr>
              <a:t>Exits we initiated/accepted — 15%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617720"/>
            <a:ext cx="11612880" cy="1874519"/>
          </a:xfrm>
          <a:prstGeom prst="rect">
            <a:avLst/>
          </a:prstGeom>
          <a:solidFill>
            <a:srgbClr val="102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69087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7DC2"/>
                </a:solidFill>
              </a:rPr>
              <a:t>YEAR-ON-YEAR IMPROVEMENT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074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Undesired exits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5074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91% in 2025  →  78% in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5074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8B4C"/>
                </a:solidFill>
              </a:rPr>
              <a:t>▼ Improving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5046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Desired exits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550468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 9% in 2025  →  22% in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550468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8B4C"/>
                </a:solidFill>
              </a:rPr>
              <a:t>▲ Improving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93445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Absconds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593445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14 in 2025   →   7 in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593445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8B4C"/>
                </a:solidFill>
              </a:rPr>
              <a:t>▼ 50% reduction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6510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CC"/>
                </a:solidFill>
              </a:rPr>
              <a:t>Confidential  |  HR / People Analytics  |  31 March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5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3 Biggest Problems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858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Leadership must act on these signals 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08760"/>
            <a:ext cx="11612880" cy="1463040"/>
          </a:xfrm>
          <a:prstGeom prst="rect">
            <a:avLst/>
          </a:prstGeom>
          <a:solidFill>
            <a:srgbClr val="14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508760"/>
            <a:ext cx="731520" cy="1463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508760"/>
            <a:ext cx="731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61848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C12"/>
                </a:solidFill>
              </a:rPr>
              <a:t>EARLY EXITS DOMINATING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01168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57% of all exits happen within the first 12 months. The 3–6 month window (91–180 days) is the single largest risk bucket — 34 people lost, 31% of total. We are losing people before they become productive.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108960"/>
            <a:ext cx="11612880" cy="1463040"/>
          </a:xfrm>
          <a:prstGeom prst="rect">
            <a:avLst/>
          </a:prstGeom>
          <a:solidFill>
            <a:srgbClr val="14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3108960"/>
            <a:ext cx="731520" cy="1463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3108960"/>
            <a:ext cx="731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21868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C12"/>
                </a:solidFill>
              </a:rPr>
              <a:t>ALMOST ALL UNDESIRED TALENT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61188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85% of exits (92 of 108) were people we wanted to keep. Only 15% were planned or desired exits. We are not in control of who leaves.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709160"/>
            <a:ext cx="11612880" cy="1463040"/>
          </a:xfrm>
          <a:prstGeom prst="rect">
            <a:avLst/>
          </a:prstGeom>
          <a:solidFill>
            <a:srgbClr val="14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4709160"/>
            <a:ext cx="731520" cy="1463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4709160"/>
            <a:ext cx="731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81888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C12"/>
                </a:solidFill>
              </a:rPr>
              <a:t>PERSONAL &amp; HEALTH = COVER STORY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21208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65% cite Personal or Health reasons — the two categories most often used when employees don't want to reveal the real reason (workload, manager, culture). This needs structured exit interviews and pulse surveys to uncover root causes.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6510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CC"/>
                </a:solidFill>
              </a:rPr>
              <a:t>Confidential  |  HR / People Analytics  |  31 March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5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Is Going Right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858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Recognise progress — build on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08760"/>
            <a:ext cx="11612880" cy="1463040"/>
          </a:xfrm>
          <a:prstGeom prst="rect">
            <a:avLst/>
          </a:prstGeom>
          <a:solidFill>
            <a:srgbClr val="06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508760"/>
            <a:ext cx="164592" cy="14630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8B4C"/>
                </a:solidFill>
              </a:rPr>
              <a:t>Absconds Down 50%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From 14 in H2 2025 to just 7 in Q1 2026. Policy tightening and early-warning systems are clearly having an effect. Continue current practices.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78240" y="1828800"/>
            <a:ext cx="2926080" cy="822960"/>
          </a:xfrm>
          <a:prstGeom prst="rect">
            <a:avLst/>
          </a:prstGeom>
          <a:solidFill>
            <a:srgbClr val="10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182880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8B4C"/>
                </a:solidFill>
              </a:rPr>
              <a:t>14  →  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108960"/>
            <a:ext cx="11612880" cy="1463040"/>
          </a:xfrm>
          <a:prstGeom prst="rect">
            <a:avLst/>
          </a:prstGeom>
          <a:solidFill>
            <a:srgbClr val="06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108960"/>
            <a:ext cx="164592" cy="14630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200400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8B4C"/>
                </a:solidFill>
              </a:rPr>
              <a:t>Desired Exits More Than Doubled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61188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From 5 (9%) in 2025 to 11 (22%) in 2026. Performance management processes are being applied more effectively. The org is taking back control of exits.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0" y="3429000"/>
            <a:ext cx="2926080" cy="822960"/>
          </a:xfrm>
          <a:prstGeom prst="rect">
            <a:avLst/>
          </a:prstGeom>
          <a:solidFill>
            <a:srgbClr val="10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0" y="342900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8B4C"/>
                </a:solidFill>
              </a:rPr>
              <a:t>5  →  11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709160"/>
            <a:ext cx="11612880" cy="1463040"/>
          </a:xfrm>
          <a:prstGeom prst="rect">
            <a:avLst/>
          </a:prstGeom>
          <a:solidFill>
            <a:srgbClr val="06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4709160"/>
            <a:ext cx="164592" cy="14630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800600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8B4C"/>
                </a:solidFill>
              </a:rPr>
              <a:t>Undesired Exit % Improving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21208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Dropped from 91% in H2 2025 to 78% in Q1 2026. Still high in absolute terms, but the directional trend is positive. Continue focused efforts.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78240" y="5029200"/>
            <a:ext cx="2926080" cy="822960"/>
          </a:xfrm>
          <a:prstGeom prst="rect">
            <a:avLst/>
          </a:prstGeom>
          <a:solidFill>
            <a:srgbClr val="10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0" y="502920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8B4C"/>
                </a:solidFill>
              </a:rPr>
              <a:t>91%  →  78%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6510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CC"/>
                </a:solidFill>
              </a:rPr>
              <a:t>Confidential  |  HR / People Analytics  |  31 March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5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3 Actions Required from Leadership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858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Concrete decisions needed — not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08760"/>
            <a:ext cx="11612880" cy="1463040"/>
          </a:xfrm>
          <a:prstGeom prst="rect">
            <a:avLst/>
          </a:prstGeom>
          <a:solidFill>
            <a:srgbClr val="08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508760"/>
            <a:ext cx="1554480" cy="1463040"/>
          </a:xfrm>
          <a:prstGeom prst="rect">
            <a:avLst/>
          </a:prstGeom>
          <a:solidFill>
            <a:srgbClr val="277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508760"/>
            <a:ext cx="1554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APPROVE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600200"/>
            <a:ext cx="9738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7DC2"/>
                </a:solidFill>
              </a:rPr>
              <a:t>90-Day Onboarding Reinforcement Program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011680"/>
            <a:ext cx="9738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Target the 3–6 month tenure cohort immediately. Structured programme with clear milestones, buddy assignment, and manager commitment required.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108960"/>
            <a:ext cx="11612880" cy="1463040"/>
          </a:xfrm>
          <a:prstGeom prst="rect">
            <a:avLst/>
          </a:prstGeom>
          <a:solidFill>
            <a:srgbClr val="08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3108960"/>
            <a:ext cx="1554480" cy="14630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3108960"/>
            <a:ext cx="1554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MANDATE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3200400"/>
            <a:ext cx="9738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C12"/>
                </a:solidFill>
              </a:rPr>
              <a:t>Skip-Level Conversations for All Band 1 Employees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3611880"/>
            <a:ext cx="9738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At 60, 90, and 180-day marks. This creates a direct feedback channel bypassing line managers, enabling early identification of flight-risk employees.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709160"/>
            <a:ext cx="11612880" cy="1463040"/>
          </a:xfrm>
          <a:prstGeom prst="rect">
            <a:avLst/>
          </a:prstGeom>
          <a:solidFill>
            <a:srgbClr val="08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4709160"/>
            <a:ext cx="1554480" cy="1463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4709160"/>
            <a:ext cx="1554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COMMISSION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4800600"/>
            <a:ext cx="9738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</a:rPr>
              <a:t>Workload &amp; Wellness Audit — Asset Living F&amp;A Ops Team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5212080"/>
            <a:ext cx="9738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65% Personal + Health exits is a warning signal. Commission an independent audit to surface real workload, WLB, and culture issues. Do not wait for more exits.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6510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CC"/>
                </a:solidFill>
              </a:rPr>
              <a:t>Confidential  |  HR / People Analytics  |  31 March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277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0"/>
            <a:ext cx="109728" cy="68580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SUMMARY — Asset Living F&amp;A Attrition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DFF"/>
                </a:solidFill>
              </a:rPr>
              <a:t>July 2025 – March 2026  |  108 Total Exits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984248"/>
            <a:ext cx="228600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874519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2026 monthly rate is 17/mo — 79% higher than H2 2025 (9.5/mo). Pace must be reversed.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578608"/>
            <a:ext cx="228600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468879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57% of exits occur in the first 12 months. The 91–180 day window is the highest risk.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172968"/>
            <a:ext cx="228600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3063239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85% of exits are undesired — we are not in control of who leaves.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767328"/>
            <a:ext cx="228600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3657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65% cite Personal/Health — likely a proxy for workload, culture, or manager issues.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361688"/>
            <a:ext cx="228600" cy="256032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42519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FFCC"/>
                </a:solidFill>
              </a:rPr>
              <a:t>Absconds halved (14 → 7). Policy measures are working. Sustain the effort.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956048"/>
            <a:ext cx="228600" cy="256032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4846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FFCC"/>
                </a:solidFill>
              </a:rPr>
              <a:t>Desired exits improving (5 → 11). Performance management is being used effectively.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5550408"/>
            <a:ext cx="228600" cy="25603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54406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Immediate action: 90-day reinforcement programme  |  Skip-level check-ins  |  Wellness audit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6510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CC"/>
                </a:solidFill>
              </a:rPr>
              <a:t>Confidential  |  HR / People Analytics  |  31 March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